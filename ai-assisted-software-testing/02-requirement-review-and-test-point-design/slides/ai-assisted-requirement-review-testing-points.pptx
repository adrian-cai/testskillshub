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9753600" cy="73152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7F8F7"/>
            </a:gs>
            <a:gs pos="54000">
              <a:srgbClr val="EDF2F3"/>
            </a:gs>
            <a:gs pos="100000">
              <a:srgbClr val="F7F2EC"/>
            </a:gs>
          </a:gsLst>
          <a:lin ang="8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9753600" cy="7315200"/>
          </a:xfrm>
          <a:prstGeom prst="rect">
            <a:avLst/>
          </a:prstGeom>
          <a:gradFill>
            <a:gsLst>
              <a:gs pos="0">
                <a:srgbClr val="FFFFFF">
                  <a:alpha val="82000"/>
                </a:srgbClr>
              </a:gs>
              <a:gs pos="100000">
                <a:srgbClr val="FFFFFF">
                  <a:alpha val="44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4290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AI赋能软件测试 | 需求评审与测试点设计</a:t>
            </a:r>
            <a:endParaRPr sz="900" b="1">
              <a:solidFill>
                <a:srgbClr val="355C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66750"/>
            <a:ext cx="84963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4000"/>
              </a:lnSpc>
              <a:buNone/>
              <a:defRPr sz="2625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需求评审是AI最容易产生测试价值的入口</a:t>
            </a:r>
            <a:endParaRPr sz="2625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466850"/>
            <a:ext cx="762000" cy="38100"/>
          </a:xfrm>
          <a:prstGeom prst="rect">
            <a:avLst/>
          </a:prstGeom>
          <a:solidFill>
            <a:srgbClr val="B98B65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82050" y="68389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9AA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9AA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825" b="0">
              <a:solidFill>
                <a:srgbClr val="9AA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1752600"/>
            <a:ext cx="800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AI在测试中的首个高价值落点，是帮助测试人员更快理解需求、拆解规则、发现遗漏</a:t>
            </a:r>
            <a:endParaRPr sz="16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800100" y="2524125"/>
            <a:ext cx="66675" cy="66675"/>
          </a:xfrm>
          <a:prstGeom prst="ellipse">
            <a:avLst/>
          </a:prstGeom>
          <a:solidFill>
            <a:srgbClr val="7A8F87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71550" y="2457450"/>
            <a:ext cx="3733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需求评审是测试左移的起点</a:t>
            </a:r>
            <a:endParaRPr sz="135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800100" y="2943225"/>
            <a:ext cx="66675" cy="66675"/>
          </a:xfrm>
          <a:prstGeom prst="ellipse">
            <a:avLst/>
          </a:prstGeom>
          <a:solidFill>
            <a:srgbClr val="7A8F87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71550" y="2876550"/>
            <a:ext cx="3733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AI适合做摘要、归纳、扩展、检查</a:t>
            </a:r>
            <a:endParaRPr sz="135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800100" y="3362325"/>
            <a:ext cx="66675" cy="66675"/>
          </a:xfrm>
          <a:prstGeom prst="ellipse">
            <a:avLst/>
          </a:prstGeom>
          <a:solidFill>
            <a:srgbClr val="7A8F87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71550" y="3295650"/>
            <a:ext cx="3733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测试人员负责判断、取舍、确认</a:t>
            </a:r>
            <a:endParaRPr sz="135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800100" y="3781425"/>
            <a:ext cx="66675" cy="66675"/>
          </a:xfrm>
          <a:prstGeom prst="ellipse">
            <a:avLst/>
          </a:prstGeom>
          <a:solidFill>
            <a:srgbClr val="7A8F87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71550" y="3714750"/>
            <a:ext cx="3733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本章围绕闭环流程展开</a:t>
            </a:r>
            <a:endParaRPr sz="135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742950" y="4857750"/>
            <a:ext cx="1790700" cy="895350"/>
          </a:xfrm>
          <a:prstGeom prst="roundRect">
            <a:avLst>
              <a:gd name="adj" fmla="val 17021"/>
            </a:avLst>
          </a:prstGeom>
          <a:solidFill>
            <a:srgbClr val="E8F0F2"/>
          </a:solidFill>
          <a:ln w="9525">
            <a:solidFill>
              <a:srgbClr val="D8DE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17" name="矩形 16"/>
          <p:cNvSpPr>
            <a:spLocks noGrp="1"/>
          </p:cNvSpPr>
          <p:nvPr/>
        </p:nvSpPr>
        <p:spPr>
          <a:xfrm>
            <a:off x="914400" y="5029200"/>
            <a:ext cx="1447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需求输入</a:t>
            </a:r>
            <a:endParaRPr sz="1575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95350" y="5353050"/>
            <a:ext cx="1485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需求文档 / 原型 / 背景</a:t>
            </a:r>
            <a:endParaRPr sz="9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右箭头 18"/>
          <p:cNvSpPr>
            <a:spLocks noGrp="1"/>
          </p:cNvSpPr>
          <p:nvPr/>
        </p:nvSpPr>
        <p:spPr>
          <a:xfrm>
            <a:off x="2619375" y="5200650"/>
            <a:ext cx="228600" cy="209550"/>
          </a:xfrm>
          <a:prstGeom prst="rightArrow">
            <a:avLst/>
          </a:prstGeom>
          <a:solidFill>
            <a:srgbClr val="C7D0D2"/>
          </a:solidFill>
          <a:ln w="0">
            <a:noFill/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2895600" y="4857750"/>
            <a:ext cx="1790700" cy="895350"/>
          </a:xfrm>
          <a:prstGeom prst="roundRect">
            <a:avLst>
              <a:gd name="adj" fmla="val 17021"/>
            </a:avLst>
          </a:prstGeom>
          <a:solidFill>
            <a:srgbClr val="EAF0EC"/>
          </a:solidFill>
          <a:ln w="9525">
            <a:solidFill>
              <a:srgbClr val="D8DE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21" name="矩形 20"/>
          <p:cNvSpPr>
            <a:spLocks noGrp="1"/>
          </p:cNvSpPr>
          <p:nvPr/>
        </p:nvSpPr>
        <p:spPr>
          <a:xfrm>
            <a:off x="3067050" y="5029200"/>
            <a:ext cx="1447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AI处理</a:t>
            </a:r>
            <a:endParaRPr sz="1575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048000" y="5353050"/>
            <a:ext cx="1485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摘要 / 规则 / 测试点</a:t>
            </a:r>
            <a:endParaRPr sz="9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右箭头 22"/>
          <p:cNvSpPr>
            <a:spLocks noGrp="1"/>
          </p:cNvSpPr>
          <p:nvPr/>
        </p:nvSpPr>
        <p:spPr>
          <a:xfrm>
            <a:off x="4772025" y="5200650"/>
            <a:ext cx="228600" cy="209550"/>
          </a:xfrm>
          <a:prstGeom prst="rightArrow">
            <a:avLst/>
          </a:prstGeom>
          <a:solidFill>
            <a:srgbClr val="C7D0D2"/>
          </a:solidFill>
          <a:ln w="0">
            <a:noFill/>
            <a:prstDash val="solid"/>
          </a:ln>
        </p:spPr>
      </p:sp>
      <p:sp>
        <p:nvSpPr>
          <p:cNvPr id="24" name="圆角矩形 23"/>
          <p:cNvSpPr>
            <a:spLocks noGrp="1"/>
          </p:cNvSpPr>
          <p:nvPr/>
        </p:nvSpPr>
        <p:spPr>
          <a:xfrm>
            <a:off x="5048250" y="4857750"/>
            <a:ext cx="1790700" cy="895350"/>
          </a:xfrm>
          <a:prstGeom prst="roundRect">
            <a:avLst>
              <a:gd name="adj" fmla="val 17021"/>
            </a:avLst>
          </a:prstGeom>
          <a:solidFill>
            <a:srgbClr val="F2ECE5"/>
          </a:solidFill>
          <a:ln w="9525">
            <a:solidFill>
              <a:srgbClr val="B98B6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25" name="矩形 24"/>
          <p:cNvSpPr>
            <a:spLocks noGrp="1"/>
          </p:cNvSpPr>
          <p:nvPr/>
        </p:nvSpPr>
        <p:spPr>
          <a:xfrm>
            <a:off x="5219700" y="5029200"/>
            <a:ext cx="1447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B98B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B98B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人工审查</a:t>
            </a:r>
            <a:endParaRPr sz="1575" b="1">
              <a:solidFill>
                <a:srgbClr val="B98B6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200650" y="5353050"/>
            <a:ext cx="1485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纠偏 / 删减 / 补充</a:t>
            </a:r>
            <a:endParaRPr sz="9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右箭头 26"/>
          <p:cNvSpPr>
            <a:spLocks noGrp="1"/>
          </p:cNvSpPr>
          <p:nvPr/>
        </p:nvSpPr>
        <p:spPr>
          <a:xfrm>
            <a:off x="6924675" y="5200650"/>
            <a:ext cx="228600" cy="209550"/>
          </a:xfrm>
          <a:prstGeom prst="rightArrow">
            <a:avLst/>
          </a:prstGeom>
          <a:solidFill>
            <a:srgbClr val="C7D0D2"/>
          </a:solidFill>
          <a:ln w="0">
            <a:noFill/>
            <a:prstDash val="solid"/>
          </a:ln>
        </p:spPr>
      </p:sp>
      <p:sp>
        <p:nvSpPr>
          <p:cNvPr id="28" name="圆角矩形 27"/>
          <p:cNvSpPr>
            <a:spLocks noGrp="1"/>
          </p:cNvSpPr>
          <p:nvPr/>
        </p:nvSpPr>
        <p:spPr>
          <a:xfrm>
            <a:off x="7200900" y="4857750"/>
            <a:ext cx="1790700" cy="895350"/>
          </a:xfrm>
          <a:prstGeom prst="roundRect">
            <a:avLst>
              <a:gd name="adj" fmla="val 17021"/>
            </a:avLst>
          </a:prstGeom>
          <a:solidFill>
            <a:srgbClr val="E8F0F2"/>
          </a:solidFill>
          <a:ln w="9525">
            <a:solidFill>
              <a:srgbClr val="D8DE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29" name="矩形 28"/>
          <p:cNvSpPr>
            <a:spLocks noGrp="1"/>
          </p:cNvSpPr>
          <p:nvPr/>
        </p:nvSpPr>
        <p:spPr>
          <a:xfrm>
            <a:off x="7372350" y="5029200"/>
            <a:ext cx="1447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575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测试产出</a:t>
            </a:r>
            <a:endParaRPr sz="1575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353300" y="5353050"/>
            <a:ext cx="1485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 / 清单 / 模板</a:t>
            </a:r>
            <a:endParaRPr sz="9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7F8F7"/>
            </a:gs>
            <a:gs pos="54000">
              <a:srgbClr val="EDF2F3"/>
            </a:gs>
            <a:gs pos="100000">
              <a:srgbClr val="F7F2EC"/>
            </a:gs>
          </a:gsLst>
          <a:lin ang="8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9753600" cy="7315200"/>
          </a:xfrm>
          <a:prstGeom prst="rect">
            <a:avLst/>
          </a:prstGeom>
          <a:gradFill>
            <a:gsLst>
              <a:gs pos="0">
                <a:srgbClr val="FFFFFF">
                  <a:alpha val="82000"/>
                </a:srgbClr>
              </a:gs>
              <a:gs pos="100000">
                <a:srgbClr val="FFFFFF">
                  <a:alpha val="44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4290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AI赋能软件测试 | 需求评审与测试点设计</a:t>
            </a:r>
            <a:endParaRPr sz="900" b="1">
              <a:solidFill>
                <a:srgbClr val="355C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66750"/>
            <a:ext cx="84963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4000"/>
              </a:lnSpc>
              <a:buNone/>
              <a:defRPr sz="2625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需求不是看完就算完成，测试要把模糊描述变成可验证问题</a:t>
            </a:r>
            <a:endParaRPr sz="2625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466850"/>
            <a:ext cx="762000" cy="38100"/>
          </a:xfrm>
          <a:prstGeom prst="rect">
            <a:avLst/>
          </a:prstGeom>
          <a:solidFill>
            <a:srgbClr val="B98B65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82050" y="68389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9AA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9AA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825" b="0">
              <a:solidFill>
                <a:srgbClr val="9AA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175260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测试人员的难点不是阅读需求，而是把需求拆成规则、场景、边界和风险</a:t>
            </a:r>
            <a:endParaRPr sz="16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66750" y="2476500"/>
            <a:ext cx="2857500" cy="3143250"/>
          </a:xfrm>
          <a:prstGeom prst="roundRect">
            <a:avLst>
              <a:gd name="adj" fmla="val 4000"/>
            </a:avLst>
          </a:prstGeom>
          <a:solidFill>
            <a:srgbClr val="F4F6F5"/>
          </a:solidFill>
          <a:ln w="9525">
            <a:solidFill>
              <a:srgbClr val="D8DE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27241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需求原文</a:t>
            </a:r>
            <a:endParaRPr sz="1350" b="1">
              <a:solidFill>
                <a:srgbClr val="355C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3200400"/>
            <a:ext cx="2114550" cy="95250"/>
          </a:xfrm>
          <a:prstGeom prst="rect">
            <a:avLst/>
          </a:prstGeom>
          <a:solidFill>
            <a:srgbClr val="CFD8D8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14400" y="3124200"/>
            <a:ext cx="2228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7B85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B85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用户满足条件后可使用优惠券</a:t>
            </a:r>
            <a:endParaRPr sz="975" b="0">
              <a:solidFill>
                <a:srgbClr val="7B85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14400" y="3600450"/>
            <a:ext cx="1962150" cy="95250"/>
          </a:xfrm>
          <a:prstGeom prst="rect">
            <a:avLst/>
          </a:prstGeom>
          <a:solidFill>
            <a:srgbClr val="CFD8D8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14400" y="3524250"/>
            <a:ext cx="2228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7B85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B85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支持有效期、门槛和叠加规则</a:t>
            </a:r>
            <a:endParaRPr sz="975" b="0">
              <a:solidFill>
                <a:srgbClr val="7B85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4000500"/>
            <a:ext cx="1809750" cy="95250"/>
          </a:xfrm>
          <a:prstGeom prst="rect">
            <a:avLst/>
          </a:prstGeom>
          <a:solidFill>
            <a:srgbClr val="CFD8D8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14400" y="3924300"/>
            <a:ext cx="2228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7B85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B85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异常场景按系统提示处理</a:t>
            </a:r>
            <a:endParaRPr sz="975" b="0">
              <a:solidFill>
                <a:srgbClr val="7B85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14400" y="4400550"/>
            <a:ext cx="1657350" cy="95250"/>
          </a:xfrm>
          <a:prstGeom prst="rect">
            <a:avLst/>
          </a:prstGeom>
          <a:solidFill>
            <a:srgbClr val="CFD8D8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14400" y="4324350"/>
            <a:ext cx="2228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7B85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7B85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具体规则以后台配置为准</a:t>
            </a:r>
            <a:endParaRPr sz="975" b="0">
              <a:solidFill>
                <a:srgbClr val="7B85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右箭头 17"/>
          <p:cNvSpPr>
            <a:spLocks noGrp="1"/>
          </p:cNvSpPr>
          <p:nvPr/>
        </p:nvSpPr>
        <p:spPr>
          <a:xfrm>
            <a:off x="3848100" y="3790950"/>
            <a:ext cx="723900" cy="342900"/>
          </a:xfrm>
          <a:prstGeom prst="rightArrow">
            <a:avLst/>
          </a:prstGeom>
          <a:solidFill>
            <a:srgbClr val="B9C4C6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714750" y="4229100"/>
            <a:ext cx="1104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975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转成可验证对象</a:t>
            </a:r>
            <a:endParaRPr sz="975" b="1">
              <a:solidFill>
                <a:srgbClr val="355C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5143500" y="2686050"/>
            <a:ext cx="1524000" cy="1066800"/>
          </a:xfrm>
          <a:prstGeom prst="roundRect">
            <a:avLst>
              <a:gd name="adj" fmla="val 12500"/>
            </a:avLst>
          </a:prstGeom>
          <a:solidFill>
            <a:srgbClr val="E8F0F2"/>
          </a:solidFill>
          <a:ln w="9525">
            <a:solidFill>
              <a:srgbClr val="D8DE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21" name="矩形 20"/>
          <p:cNvSpPr>
            <a:spLocks noGrp="1"/>
          </p:cNvSpPr>
          <p:nvPr/>
        </p:nvSpPr>
        <p:spPr>
          <a:xfrm>
            <a:off x="5334000" y="28956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80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</a:t>
            </a:r>
            <a:endParaRPr sz="1800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295900" y="3276600"/>
            <a:ext cx="1219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限制条件是否完整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6934200" y="2686050"/>
            <a:ext cx="1524000" cy="1066800"/>
          </a:xfrm>
          <a:prstGeom prst="roundRect">
            <a:avLst>
              <a:gd name="adj" fmla="val 12500"/>
            </a:avLst>
          </a:prstGeom>
          <a:solidFill>
            <a:srgbClr val="EAF0EC"/>
          </a:solidFill>
          <a:ln w="9525">
            <a:solidFill>
              <a:srgbClr val="D8DE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24" name="矩形 23"/>
          <p:cNvSpPr>
            <a:spLocks noGrp="1"/>
          </p:cNvSpPr>
          <p:nvPr/>
        </p:nvSpPr>
        <p:spPr>
          <a:xfrm>
            <a:off x="7124700" y="28956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80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</a:t>
            </a:r>
            <a:endParaRPr sz="1800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086600" y="3276600"/>
            <a:ext cx="1219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主流程与异常流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5143500" y="4152900"/>
            <a:ext cx="1524000" cy="1066800"/>
          </a:xfrm>
          <a:prstGeom prst="roundRect">
            <a:avLst>
              <a:gd name="adj" fmla="val 12500"/>
            </a:avLst>
          </a:prstGeom>
          <a:solidFill>
            <a:srgbClr val="F2ECE5"/>
          </a:solidFill>
          <a:ln w="9525">
            <a:solidFill>
              <a:srgbClr val="D8DE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27" name="矩形 26"/>
          <p:cNvSpPr>
            <a:spLocks noGrp="1"/>
          </p:cNvSpPr>
          <p:nvPr/>
        </p:nvSpPr>
        <p:spPr>
          <a:xfrm>
            <a:off x="5334000" y="43624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80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</a:t>
            </a:r>
            <a:endParaRPr sz="1800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295900" y="4743450"/>
            <a:ext cx="1219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金额、次数、时间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6934200" y="4152900"/>
            <a:ext cx="1524000" cy="1066800"/>
          </a:xfrm>
          <a:prstGeom prst="roundRect">
            <a:avLst>
              <a:gd name="adj" fmla="val 12500"/>
            </a:avLst>
          </a:prstGeom>
          <a:solidFill>
            <a:srgbClr val="F4E7E4"/>
          </a:solidFill>
          <a:ln w="9525">
            <a:solidFill>
              <a:srgbClr val="D8DE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30" name="矩形 29"/>
          <p:cNvSpPr>
            <a:spLocks noGrp="1"/>
          </p:cNvSpPr>
          <p:nvPr/>
        </p:nvSpPr>
        <p:spPr>
          <a:xfrm>
            <a:off x="7124700" y="43624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80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</a:t>
            </a:r>
            <a:endParaRPr sz="1800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086600" y="4743450"/>
            <a:ext cx="1219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优先级与返工点</a:t>
            </a:r>
            <a:endParaRPr sz="10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819150" y="6067425"/>
            <a:ext cx="66675" cy="66675"/>
          </a:xfrm>
          <a:prstGeom prst="ellipse">
            <a:avLst/>
          </a:prstGeom>
          <a:solidFill>
            <a:srgbClr val="7A8F87"/>
          </a:solidFill>
          <a:ln w="0">
            <a:noFill/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90600" y="6000750"/>
            <a:ext cx="7639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关键限制分散</a:t>
            </a:r>
            <a:endParaRPr sz="11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椭圆 33"/>
          <p:cNvSpPr>
            <a:spLocks noGrp="1"/>
          </p:cNvSpPr>
          <p:nvPr/>
        </p:nvSpPr>
        <p:spPr>
          <a:xfrm>
            <a:off x="819150" y="6296025"/>
            <a:ext cx="66675" cy="66675"/>
          </a:xfrm>
          <a:prstGeom prst="ellipse">
            <a:avLst/>
          </a:prstGeom>
          <a:solidFill>
            <a:srgbClr val="7A8F87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90600" y="6229350"/>
            <a:ext cx="7639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异常流程不完整</a:t>
            </a:r>
            <a:endParaRPr sz="11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椭圆 35"/>
          <p:cNvSpPr>
            <a:spLocks noGrp="1"/>
          </p:cNvSpPr>
          <p:nvPr/>
        </p:nvSpPr>
        <p:spPr>
          <a:xfrm>
            <a:off x="819150" y="6524625"/>
            <a:ext cx="66675" cy="66675"/>
          </a:xfrm>
          <a:prstGeom prst="ellipse">
            <a:avLst/>
          </a:prstGeom>
          <a:solidFill>
            <a:srgbClr val="7A8F87"/>
          </a:solidFill>
          <a:ln w="0">
            <a:noFill/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90600" y="6457950"/>
            <a:ext cx="7639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权限、状态、金额、时间易遗漏</a:t>
            </a:r>
            <a:endParaRPr sz="11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椭圆 37"/>
          <p:cNvSpPr>
            <a:spLocks noGrp="1"/>
          </p:cNvSpPr>
          <p:nvPr/>
        </p:nvSpPr>
        <p:spPr>
          <a:xfrm>
            <a:off x="819150" y="6753225"/>
            <a:ext cx="66675" cy="66675"/>
          </a:xfrm>
          <a:prstGeom prst="ellipse">
            <a:avLst/>
          </a:prstGeom>
          <a:solidFill>
            <a:srgbClr val="A65F55"/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990600" y="6686550"/>
            <a:ext cx="7639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A65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A65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测试点多但优先级不清</a:t>
            </a:r>
            <a:endParaRPr sz="1125" b="0">
              <a:solidFill>
                <a:srgbClr val="A65F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7F8F7"/>
            </a:gs>
            <a:gs pos="54000">
              <a:srgbClr val="EDF2F3"/>
            </a:gs>
            <a:gs pos="100000">
              <a:srgbClr val="F7F2EC"/>
            </a:gs>
          </a:gsLst>
          <a:lin ang="8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9753600" cy="7315200"/>
          </a:xfrm>
          <a:prstGeom prst="rect">
            <a:avLst/>
          </a:prstGeom>
          <a:gradFill>
            <a:gsLst>
              <a:gs pos="0">
                <a:srgbClr val="FFFFFF">
                  <a:alpha val="82000"/>
                </a:srgbClr>
              </a:gs>
              <a:gs pos="100000">
                <a:srgbClr val="FFFFFF">
                  <a:alpha val="44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4290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AI赋能软件测试 | 需求评审与测试点设计</a:t>
            </a:r>
            <a:endParaRPr sz="900" b="1">
              <a:solidFill>
                <a:srgbClr val="355C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66750"/>
            <a:ext cx="84963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4000"/>
              </a:lnSpc>
              <a:buNone/>
              <a:defRPr sz="2625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AI介入需求评审必须形成闭环，不能停在“一键生成”</a:t>
            </a:r>
            <a:endParaRPr sz="2625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466850"/>
            <a:ext cx="762000" cy="38100"/>
          </a:xfrm>
          <a:prstGeom prst="rect">
            <a:avLst/>
          </a:prstGeom>
          <a:solidFill>
            <a:srgbClr val="B98B65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82050" y="68389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9AA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9AA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825" b="0">
              <a:solidFill>
                <a:srgbClr val="9AA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1752600"/>
            <a:ext cx="790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AI输出只是测试分析初稿，必须经过人工审查，才能进入正式测试产出</a:t>
            </a:r>
            <a:endParaRPr sz="16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14400" y="2781300"/>
            <a:ext cx="1619250" cy="1295400"/>
          </a:xfrm>
          <a:prstGeom prst="roundRect">
            <a:avLst>
              <a:gd name="adj" fmla="val 10294"/>
            </a:avLst>
          </a:prstGeom>
          <a:solidFill>
            <a:srgbClr val="E8F0F2"/>
          </a:solidFill>
          <a:ln w="9525">
            <a:solidFill>
              <a:srgbClr val="D8DE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9" name="矩形 8"/>
          <p:cNvSpPr>
            <a:spLocks noGrp="1"/>
          </p:cNvSpPr>
          <p:nvPr/>
        </p:nvSpPr>
        <p:spPr>
          <a:xfrm>
            <a:off x="1104900" y="295275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725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endParaRPr sz="1725" b="1">
              <a:solidFill>
                <a:srgbClr val="355C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43000" y="3314700"/>
            <a:ext cx="1162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需求文档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业务背景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右箭头 10"/>
          <p:cNvSpPr>
            <a:spLocks noGrp="1"/>
          </p:cNvSpPr>
          <p:nvPr/>
        </p:nvSpPr>
        <p:spPr>
          <a:xfrm>
            <a:off x="2609850" y="3276600"/>
            <a:ext cx="400050" cy="247650"/>
          </a:xfrm>
          <a:prstGeom prst="rightArrow">
            <a:avLst/>
          </a:prstGeom>
          <a:solidFill>
            <a:srgbClr val="C7D0D2"/>
          </a:solidFill>
          <a:ln w="0">
            <a:noFill/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2990850" y="3676650"/>
            <a:ext cx="1619250" cy="1295400"/>
          </a:xfrm>
          <a:prstGeom prst="roundRect">
            <a:avLst>
              <a:gd name="adj" fmla="val 10294"/>
            </a:avLst>
          </a:prstGeom>
          <a:solidFill>
            <a:srgbClr val="EAF0EC"/>
          </a:solidFill>
          <a:ln w="9525">
            <a:solidFill>
              <a:srgbClr val="D8DE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/>
        </p:nvSpPr>
        <p:spPr>
          <a:xfrm>
            <a:off x="3181350" y="372999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725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AI处理</a:t>
            </a:r>
            <a:endParaRPr sz="1725" b="1">
              <a:solidFill>
                <a:srgbClr val="355C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219450" y="4076700"/>
            <a:ext cx="1162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摘要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测试点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风险提示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右箭头 14"/>
          <p:cNvSpPr>
            <a:spLocks noGrp="1"/>
          </p:cNvSpPr>
          <p:nvPr/>
        </p:nvSpPr>
        <p:spPr>
          <a:xfrm>
            <a:off x="4686300" y="4171950"/>
            <a:ext cx="400050" cy="247650"/>
          </a:xfrm>
          <a:prstGeom prst="rightArrow">
            <a:avLst/>
          </a:prstGeom>
          <a:solidFill>
            <a:srgbClr val="C7D0D2"/>
          </a:solidFill>
          <a:ln w="0">
            <a:noFill/>
            <a:prstDash val="solid"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5067300" y="2781300"/>
            <a:ext cx="1619250" cy="1295400"/>
          </a:xfrm>
          <a:prstGeom prst="roundRect">
            <a:avLst>
              <a:gd name="adj" fmla="val 10294"/>
            </a:avLst>
          </a:prstGeom>
          <a:solidFill>
            <a:srgbClr val="F2ECE5"/>
          </a:solidFill>
          <a:ln w="9525">
            <a:solidFill>
              <a:srgbClr val="B98B6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17" name="矩形 16"/>
          <p:cNvSpPr>
            <a:spLocks noGrp="1"/>
          </p:cNvSpPr>
          <p:nvPr/>
        </p:nvSpPr>
        <p:spPr>
          <a:xfrm>
            <a:off x="5257800" y="2865755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725" b="1">
                <a:solidFill>
                  <a:srgbClr val="B98B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B98B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人工审查</a:t>
            </a:r>
            <a:endParaRPr sz="1725" b="1">
              <a:solidFill>
                <a:srgbClr val="B98B6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295900" y="3200400"/>
            <a:ext cx="1162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纠偏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删除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右箭头 18"/>
          <p:cNvSpPr>
            <a:spLocks noGrp="1"/>
          </p:cNvSpPr>
          <p:nvPr/>
        </p:nvSpPr>
        <p:spPr>
          <a:xfrm>
            <a:off x="6762750" y="3276600"/>
            <a:ext cx="400050" cy="247650"/>
          </a:xfrm>
          <a:prstGeom prst="rightArrow">
            <a:avLst/>
          </a:prstGeom>
          <a:solidFill>
            <a:srgbClr val="C7D0D2"/>
          </a:solidFill>
          <a:ln w="0">
            <a:noFill/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7143750" y="3676650"/>
            <a:ext cx="1619250" cy="1295400"/>
          </a:xfrm>
          <a:prstGeom prst="roundRect">
            <a:avLst>
              <a:gd name="adj" fmla="val 10294"/>
            </a:avLst>
          </a:prstGeom>
          <a:solidFill>
            <a:srgbClr val="E8F0F2"/>
          </a:solidFill>
          <a:ln w="9525">
            <a:solidFill>
              <a:srgbClr val="D8DE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21" name="矩形 20"/>
          <p:cNvSpPr>
            <a:spLocks noGrp="1"/>
          </p:cNvSpPr>
          <p:nvPr/>
        </p:nvSpPr>
        <p:spPr>
          <a:xfrm>
            <a:off x="7334250" y="372999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725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测试产出</a:t>
            </a:r>
            <a:endParaRPr sz="1725" b="1">
              <a:solidFill>
                <a:srgbClr val="355C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353300" y="4090035"/>
            <a:ext cx="1162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规则清单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测试点矩阵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风险清单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2038350" y="5753100"/>
            <a:ext cx="6064250" cy="514350"/>
          </a:xfrm>
          <a:prstGeom prst="roundRect">
            <a:avLst>
              <a:gd name="adj" fmla="val 22222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B98B6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24" name="矩形 23"/>
          <p:cNvSpPr>
            <a:spLocks noGrp="1"/>
          </p:cNvSpPr>
          <p:nvPr/>
        </p:nvSpPr>
        <p:spPr>
          <a:xfrm>
            <a:off x="2140585" y="5890260"/>
            <a:ext cx="541147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AI输出 ≠ 最终结论；可落地的是</a:t>
            </a:r>
            <a:r>
              <a:rPr lang="en-US" sz="13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“</a:t>
            </a:r>
            <a:r>
              <a:rPr sz="13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AI生成 + 人工审查 + 团队</a:t>
            </a:r>
            <a:r>
              <a:rPr lang="zh-CN" sz="13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</a:t>
            </a:r>
            <a:r>
              <a:rPr sz="13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</a:t>
            </a:r>
            <a:r>
              <a:rPr lang="en-US" sz="13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endParaRPr lang="en-US" sz="1350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7F8F7"/>
            </a:gs>
            <a:gs pos="54000">
              <a:srgbClr val="EDF2F3"/>
            </a:gs>
            <a:gs pos="100000">
              <a:srgbClr val="F7F2EC"/>
            </a:gs>
          </a:gsLst>
          <a:lin ang="8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9753600" cy="7315200"/>
          </a:xfrm>
          <a:prstGeom prst="rect">
            <a:avLst/>
          </a:prstGeom>
          <a:gradFill>
            <a:gsLst>
              <a:gs pos="0">
                <a:srgbClr val="FFFFFF">
                  <a:alpha val="82000"/>
                </a:srgbClr>
              </a:gs>
              <a:gs pos="100000">
                <a:srgbClr val="FFFFFF">
                  <a:alpha val="44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4290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AI赋能软件测试 | 需求评审与测试点设计</a:t>
            </a:r>
            <a:endParaRPr sz="900" b="1">
              <a:solidFill>
                <a:srgbClr val="355C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66750"/>
            <a:ext cx="84963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4000"/>
              </a:lnSpc>
              <a:buNone/>
              <a:defRPr sz="2625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先让AI整理需求和规则，测试人员再判断它是否理解对了</a:t>
            </a:r>
            <a:endParaRPr sz="2625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466850"/>
            <a:ext cx="762000" cy="38100"/>
          </a:xfrm>
          <a:prstGeom prst="rect">
            <a:avLst/>
          </a:prstGeom>
          <a:solidFill>
            <a:srgbClr val="B98B65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82050" y="68389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9AA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9AA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825" b="0">
              <a:solidFill>
                <a:srgbClr val="9AA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1752600"/>
            <a:ext cx="819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AI适合把长需求结构化，但测试人员必须确认业务范围、角色、规则和限制是否准确</a:t>
            </a:r>
            <a:endParaRPr sz="15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19150" y="24003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endParaRPr sz="900" b="1">
              <a:solidFill>
                <a:srgbClr val="355C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42950" y="2705100"/>
            <a:ext cx="2647950" cy="3143250"/>
          </a:xfrm>
          <a:prstGeom prst="roundRect">
            <a:avLst>
              <a:gd name="adj" fmla="val 4317"/>
            </a:avLst>
          </a:prstGeom>
          <a:solidFill>
            <a:srgbClr val="F4F6F5"/>
          </a:solidFill>
          <a:ln w="9525">
            <a:solidFill>
              <a:srgbClr val="D8DE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10" name="矩形 9"/>
          <p:cNvSpPr>
            <a:spLocks noGrp="1"/>
          </p:cNvSpPr>
          <p:nvPr/>
        </p:nvSpPr>
        <p:spPr>
          <a:xfrm>
            <a:off x="990600" y="29527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优惠券需求文档</a:t>
            </a:r>
            <a:endParaRPr sz="1650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990600" y="3467100"/>
            <a:ext cx="9144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D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3514725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9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领取条件</a:t>
            </a:r>
            <a:endParaRPr sz="900" b="1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2095500" y="3467100"/>
            <a:ext cx="9144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D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171700" y="3514725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9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使用门槛</a:t>
            </a:r>
            <a:endParaRPr sz="900" b="1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990600" y="3981450"/>
            <a:ext cx="9144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D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066800" y="4029075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9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有效期</a:t>
            </a:r>
            <a:endParaRPr sz="900" b="1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2095500" y="3981450"/>
            <a:ext cx="9144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D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171700" y="4029075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9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叠加规则</a:t>
            </a:r>
            <a:endParaRPr sz="900" b="1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990600" y="4495800"/>
            <a:ext cx="9144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D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066800" y="4543425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9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适用范围</a:t>
            </a:r>
            <a:endParaRPr sz="900" b="1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2095500" y="4495800"/>
            <a:ext cx="9144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EDF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2171700" y="4543425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9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使用次数</a:t>
            </a:r>
            <a:endParaRPr sz="900" b="1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90600" y="5162550"/>
            <a:ext cx="2076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原文通常是连续描述，规则散落在不同段落</a:t>
            </a:r>
            <a:endParaRPr sz="112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右箭头 23"/>
          <p:cNvSpPr>
            <a:spLocks noGrp="1"/>
          </p:cNvSpPr>
          <p:nvPr/>
        </p:nvSpPr>
        <p:spPr>
          <a:xfrm>
            <a:off x="3733800" y="3943350"/>
            <a:ext cx="571500" cy="285750"/>
          </a:xfrm>
          <a:prstGeom prst="rightArrow">
            <a:avLst/>
          </a:prstGeom>
          <a:solidFill>
            <a:srgbClr val="B9C4C6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3648075" y="4362450"/>
            <a:ext cx="742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975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AI结构化</a:t>
            </a:r>
            <a:endParaRPr sz="975" b="1">
              <a:solidFill>
                <a:srgbClr val="355C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762500" y="24003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AI处理 + 人工审查</a:t>
            </a:r>
            <a:endParaRPr sz="900" b="1">
              <a:solidFill>
                <a:srgbClr val="355C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4724400" y="2705100"/>
            <a:ext cx="435102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8DE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28" name="矩形 27"/>
          <p:cNvSpPr>
            <a:spLocks noGrp="1"/>
          </p:cNvSpPr>
          <p:nvPr/>
        </p:nvSpPr>
        <p:spPr>
          <a:xfrm>
            <a:off x="4972050" y="2933700"/>
            <a:ext cx="3390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规则清单先成形，再逐条确认</a:t>
            </a:r>
            <a:endParaRPr sz="1650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5010150" y="3486150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E8F0F2"/>
          </a:solidFill>
          <a:ln w="9525">
            <a:solidFill>
              <a:srgbClr val="D8DEDF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086350" y="3533775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90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需求摘要</a:t>
            </a:r>
            <a:endParaRPr sz="900" b="1">
              <a:solidFill>
                <a:srgbClr val="355C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038850" y="3524250"/>
            <a:ext cx="2324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业务目标 / 用户角色 / 功能范围 / 主流程</a:t>
            </a:r>
            <a:endParaRPr sz="12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010150" y="3905250"/>
            <a:ext cx="3314700" cy="9525"/>
          </a:xfrm>
          <a:prstGeom prst="rect">
            <a:avLst/>
          </a:prstGeom>
          <a:solidFill>
            <a:srgbClr val="D8DEDF"/>
          </a:solidFill>
          <a:ln w="0">
            <a:noFill/>
            <a:prstDash val="solid"/>
          </a:ln>
        </p:spPr>
      </p:sp>
      <p:sp>
        <p:nvSpPr>
          <p:cNvPr id="33" name="圆角矩形 32"/>
          <p:cNvSpPr>
            <a:spLocks noGrp="1"/>
          </p:cNvSpPr>
          <p:nvPr/>
        </p:nvSpPr>
        <p:spPr>
          <a:xfrm>
            <a:off x="5010150" y="4076700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E8F0F2"/>
          </a:solidFill>
          <a:ln w="9525">
            <a:solidFill>
              <a:srgbClr val="D8DEDF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5086350" y="4124325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90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规则提取</a:t>
            </a:r>
            <a:endParaRPr sz="900" b="1">
              <a:solidFill>
                <a:srgbClr val="355C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038850" y="4114800"/>
            <a:ext cx="2324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领取 / 使用 / 有效期 / 叠加 / 门槛</a:t>
            </a:r>
            <a:endParaRPr sz="12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010150" y="4495800"/>
            <a:ext cx="3314700" cy="9525"/>
          </a:xfrm>
          <a:prstGeom prst="rect">
            <a:avLst/>
          </a:prstGeom>
          <a:solidFill>
            <a:srgbClr val="D8DEDF"/>
          </a:solidFill>
          <a:ln w="0">
            <a:noFill/>
            <a:prstDash val="solid"/>
          </a:ln>
        </p:spPr>
      </p:sp>
      <p:sp>
        <p:nvSpPr>
          <p:cNvPr id="37" name="圆角矩形 36"/>
          <p:cNvSpPr>
            <a:spLocks noGrp="1"/>
          </p:cNvSpPr>
          <p:nvPr/>
        </p:nvSpPr>
        <p:spPr>
          <a:xfrm>
            <a:off x="5010150" y="4667250"/>
            <a:ext cx="838200" cy="266700"/>
          </a:xfrm>
          <a:prstGeom prst="roundRect">
            <a:avLst>
              <a:gd name="adj" fmla="val 50000"/>
            </a:avLst>
          </a:prstGeom>
          <a:solidFill>
            <a:srgbClr val="F2ECE5"/>
          </a:solidFill>
          <a:ln w="9525">
            <a:solidFill>
              <a:srgbClr val="D8DEDF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5086350" y="4714875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900" b="1">
                <a:solidFill>
                  <a:srgbClr val="B98B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B98B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人工审查</a:t>
            </a:r>
            <a:endParaRPr sz="900" b="1">
              <a:solidFill>
                <a:srgbClr val="B98B6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038850" y="4705350"/>
            <a:ext cx="2324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遗漏 / 误解 / 待确认规则</a:t>
            </a:r>
            <a:endParaRPr sz="12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010150" y="5086350"/>
            <a:ext cx="3314700" cy="9525"/>
          </a:xfrm>
          <a:prstGeom prst="rect">
            <a:avLst/>
          </a:prstGeom>
          <a:solidFill>
            <a:srgbClr val="D8DEDF"/>
          </a:solidFill>
          <a:ln w="0">
            <a:noFill/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5010150" y="5353050"/>
            <a:ext cx="353568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275" b="1">
                <a:solidFill>
                  <a:srgbClr val="A65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A65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没有写清楚的内容，不能被AI补成“既定规则”</a:t>
            </a:r>
            <a:endParaRPr sz="1275" b="1">
              <a:solidFill>
                <a:srgbClr val="A65F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7F8F7"/>
            </a:gs>
            <a:gs pos="54000">
              <a:srgbClr val="EDF2F3"/>
            </a:gs>
            <a:gs pos="100000">
              <a:srgbClr val="F7F2EC"/>
            </a:gs>
          </a:gsLst>
          <a:lin ang="8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9753600" cy="7315200"/>
          </a:xfrm>
          <a:prstGeom prst="rect">
            <a:avLst/>
          </a:prstGeom>
          <a:gradFill>
            <a:gsLst>
              <a:gs pos="0">
                <a:srgbClr val="FFFFFF">
                  <a:alpha val="82000"/>
                </a:srgbClr>
              </a:gs>
              <a:gs pos="100000">
                <a:srgbClr val="FFFFFF">
                  <a:alpha val="44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4290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AI赋能软件测试 | 需求评审与测试点设计</a:t>
            </a:r>
            <a:endParaRPr sz="900" b="1">
              <a:solidFill>
                <a:srgbClr val="355C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66750"/>
            <a:ext cx="84963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4000"/>
              </a:lnSpc>
              <a:buNone/>
              <a:defRPr sz="2625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测试点矩阵不是AI直接给答案，而是规则到场景的结构化转换</a:t>
            </a:r>
            <a:endParaRPr sz="2625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466850"/>
            <a:ext cx="762000" cy="38100"/>
          </a:xfrm>
          <a:prstGeom prst="rect">
            <a:avLst/>
          </a:prstGeom>
          <a:solidFill>
            <a:srgbClr val="B98B65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82050" y="68389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9AA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9AA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825" b="0">
              <a:solidFill>
                <a:srgbClr val="9AA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1752600"/>
            <a:ext cx="819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AI可以基于规则扩展测试点，但测试人员要筛选真实有效、业务高风险的测试场景</a:t>
            </a:r>
            <a:endParaRPr sz="15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2533650"/>
            <a:ext cx="1428750" cy="400050"/>
          </a:xfrm>
          <a:prstGeom prst="rect">
            <a:avLst/>
          </a:prstGeom>
          <a:solidFill>
            <a:srgbClr val="DFE8E9"/>
          </a:solidFill>
          <a:ln w="9525">
            <a:solidFill>
              <a:srgbClr val="D8DEDF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264795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125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</a:t>
            </a:r>
            <a:endParaRPr sz="1125" b="1">
              <a:solidFill>
                <a:srgbClr val="355C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114550" y="2533650"/>
            <a:ext cx="1619250" cy="400050"/>
          </a:xfrm>
          <a:prstGeom prst="rect">
            <a:avLst/>
          </a:prstGeom>
          <a:solidFill>
            <a:srgbClr val="DFE8E9"/>
          </a:solidFill>
          <a:ln w="9525">
            <a:solidFill>
              <a:srgbClr val="D8DED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209800" y="264795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125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</a:t>
            </a:r>
            <a:endParaRPr sz="1125" b="1">
              <a:solidFill>
                <a:srgbClr val="355C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733800" y="2533650"/>
            <a:ext cx="2476500" cy="400050"/>
          </a:xfrm>
          <a:prstGeom prst="rect">
            <a:avLst/>
          </a:prstGeom>
          <a:solidFill>
            <a:srgbClr val="355C68"/>
          </a:solidFill>
          <a:ln w="9525">
            <a:solidFill>
              <a:srgbClr val="D8DED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829050" y="2647950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测试点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210300" y="2533650"/>
            <a:ext cx="1143000" cy="400050"/>
          </a:xfrm>
          <a:prstGeom prst="rect">
            <a:avLst/>
          </a:prstGeom>
          <a:solidFill>
            <a:srgbClr val="DFE8E9"/>
          </a:solidFill>
          <a:ln w="9525">
            <a:solidFill>
              <a:srgbClr val="D8DED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305550" y="26479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125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</a:t>
            </a:r>
            <a:endParaRPr sz="1125" b="1">
              <a:solidFill>
                <a:srgbClr val="355C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353300" y="2533650"/>
            <a:ext cx="1238250" cy="400050"/>
          </a:xfrm>
          <a:prstGeom prst="rect">
            <a:avLst/>
          </a:prstGeom>
          <a:solidFill>
            <a:srgbClr val="DFE8E9"/>
          </a:solidFill>
          <a:ln w="9525">
            <a:solidFill>
              <a:srgbClr val="D8DED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448550" y="2647950"/>
            <a:ext cx="1047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125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优先级</a:t>
            </a:r>
            <a:endParaRPr sz="1125" b="1">
              <a:solidFill>
                <a:srgbClr val="355C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85800" y="293370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81050" y="31051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0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满100可用</a:t>
            </a:r>
            <a:endParaRPr sz="105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114550" y="2933700"/>
            <a:ext cx="1619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2209800" y="31051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0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订单金额</a:t>
            </a:r>
            <a:endParaRPr sz="105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733800" y="2933700"/>
            <a:ext cx="2476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3829050" y="31051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99.99 / 100 / 100.01 三个金额点</a:t>
            </a:r>
            <a:endParaRPr sz="105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10300" y="2933700"/>
            <a:ext cx="1143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305550" y="310515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B98B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B98B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边界值</a:t>
            </a:r>
            <a:endParaRPr sz="1050" b="1">
              <a:solidFill>
                <a:srgbClr val="B98B6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353300" y="2933700"/>
            <a:ext cx="1238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448550" y="31051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</a:t>
            </a:r>
            <a:endParaRPr sz="1050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85800" y="3486150"/>
            <a:ext cx="1428750" cy="552450"/>
          </a:xfrm>
          <a:prstGeom prst="rect">
            <a:avLst/>
          </a:prstGeom>
          <a:solidFill>
            <a:srgbClr val="F7FAF9"/>
          </a:solidFill>
          <a:ln w="9525">
            <a:solidFill>
              <a:srgbClr val="D8DED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81050" y="36576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0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有效期限制</a:t>
            </a:r>
            <a:endParaRPr sz="105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114550" y="3486150"/>
            <a:ext cx="1619250" cy="552450"/>
          </a:xfrm>
          <a:prstGeom prst="rect">
            <a:avLst/>
          </a:prstGeom>
          <a:solidFill>
            <a:srgbClr val="F7FAF9"/>
          </a:solidFill>
          <a:ln w="9525">
            <a:solidFill>
              <a:srgbClr val="D8DEDF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2209800" y="36576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0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过期使用</a:t>
            </a:r>
            <a:endParaRPr sz="105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733800" y="3486150"/>
            <a:ext cx="2476500" cy="552450"/>
          </a:xfrm>
          <a:prstGeom prst="rect">
            <a:avLst/>
          </a:prstGeom>
          <a:solidFill>
            <a:srgbClr val="F7FAF9"/>
          </a:solidFill>
          <a:ln w="9525">
            <a:solidFill>
              <a:srgbClr val="D8DEDF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3829050" y="36576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过期券不可抵扣，并给出明确提示</a:t>
            </a:r>
            <a:endParaRPr sz="105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210300" y="3486150"/>
            <a:ext cx="1143000" cy="552450"/>
          </a:xfrm>
          <a:prstGeom prst="rect">
            <a:avLst/>
          </a:prstGeom>
          <a:solidFill>
            <a:srgbClr val="F7FAF9"/>
          </a:solidFill>
          <a:ln w="9525">
            <a:solidFill>
              <a:srgbClr val="D8DEDF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305550" y="365760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B98B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B98B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异常流</a:t>
            </a:r>
            <a:endParaRPr sz="1050" b="1">
              <a:solidFill>
                <a:srgbClr val="B98B6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353300" y="3486150"/>
            <a:ext cx="1238250" cy="552450"/>
          </a:xfrm>
          <a:prstGeom prst="rect">
            <a:avLst/>
          </a:prstGeom>
          <a:solidFill>
            <a:srgbClr val="F7FAF9"/>
          </a:solidFill>
          <a:ln w="9525">
            <a:solidFill>
              <a:srgbClr val="D8DEDF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7448550" y="36576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</a:t>
            </a:r>
            <a:endParaRPr sz="1050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85800" y="4038600"/>
            <a:ext cx="1428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F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781050" y="42100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0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不可重复使用</a:t>
            </a:r>
            <a:endParaRPr sz="105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2114550" y="4038600"/>
            <a:ext cx="1619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F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2209800" y="42100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0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重复提交</a:t>
            </a:r>
            <a:endParaRPr sz="105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3733800" y="4038600"/>
            <a:ext cx="2476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F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3829050" y="42100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支付重试或重复提交不重复抵扣</a:t>
            </a:r>
            <a:endParaRPr sz="105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210300" y="4038600"/>
            <a:ext cx="1143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F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6305550" y="421005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状态变化</a:t>
            </a:r>
            <a:endParaRPr sz="1050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7353300" y="4038600"/>
            <a:ext cx="1238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F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7448550" y="42100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</a:t>
            </a:r>
            <a:endParaRPr sz="1050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685800" y="4591050"/>
            <a:ext cx="1428750" cy="552450"/>
          </a:xfrm>
          <a:prstGeom prst="rect">
            <a:avLst/>
          </a:prstGeom>
          <a:solidFill>
            <a:srgbClr val="F7FAF9"/>
          </a:solidFill>
          <a:ln w="9525">
            <a:solidFill>
              <a:srgbClr val="D8DEDF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781050" y="47625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0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适用范围</a:t>
            </a:r>
            <a:endParaRPr sz="105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2114550" y="4591050"/>
            <a:ext cx="1619250" cy="552450"/>
          </a:xfrm>
          <a:prstGeom prst="rect">
            <a:avLst/>
          </a:prstGeom>
          <a:solidFill>
            <a:srgbClr val="F7FAF9"/>
          </a:solidFill>
          <a:ln w="9525">
            <a:solidFill>
              <a:srgbClr val="D8DEDF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2209800" y="47625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0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商品限制</a:t>
            </a:r>
            <a:endParaRPr sz="105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3733800" y="4591050"/>
            <a:ext cx="2476500" cy="552450"/>
          </a:xfrm>
          <a:prstGeom prst="rect">
            <a:avLst/>
          </a:prstGeom>
          <a:solidFill>
            <a:srgbClr val="F7FAF9"/>
          </a:solidFill>
          <a:ln w="9525">
            <a:solidFill>
              <a:srgbClr val="D8DEDF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3829050" y="47625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非适用商品不展示或不可选该券</a:t>
            </a:r>
            <a:endParaRPr sz="105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6210300" y="4591050"/>
            <a:ext cx="1143000" cy="552450"/>
          </a:xfrm>
          <a:prstGeom prst="rect">
            <a:avLst/>
          </a:prstGeom>
          <a:solidFill>
            <a:srgbClr val="F7FAF9"/>
          </a:solidFill>
          <a:ln w="9525">
            <a:solidFill>
              <a:srgbClr val="D8DEDF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6305550" y="476250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权限/规则</a:t>
            </a:r>
            <a:endParaRPr sz="1050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7353300" y="4591050"/>
            <a:ext cx="1238250" cy="552450"/>
          </a:xfrm>
          <a:prstGeom prst="rect">
            <a:avLst/>
          </a:prstGeom>
          <a:solidFill>
            <a:srgbClr val="F7FAF9"/>
          </a:solidFill>
          <a:ln w="9525">
            <a:solidFill>
              <a:srgbClr val="D8DEDF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7448550" y="47625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endParaRPr sz="1050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876300" y="5467350"/>
            <a:ext cx="7962900" cy="666750"/>
          </a:xfrm>
          <a:prstGeom prst="roundRect">
            <a:avLst>
              <a:gd name="adj" fmla="val 17143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D8DE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59" name="矩形 58"/>
          <p:cNvSpPr>
            <a:spLocks noGrp="1"/>
          </p:cNvSpPr>
          <p:nvPr/>
        </p:nvSpPr>
        <p:spPr>
          <a:xfrm>
            <a:off x="1085850" y="5530215"/>
            <a:ext cx="800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endParaRPr sz="1050" b="1">
              <a:solidFill>
                <a:srgbClr val="355C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1085850" y="5746115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需求摘要 + 规则清单</a:t>
            </a:r>
            <a:endParaRPr sz="9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3028950" y="5530215"/>
            <a:ext cx="800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AI拆解</a:t>
            </a:r>
            <a:endParaRPr sz="1050" b="1">
              <a:solidFill>
                <a:srgbClr val="355C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3028950" y="5746115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正常流 / 异常流 / 边界值 / 权限 / 状态变化</a:t>
            </a:r>
            <a:endParaRPr sz="9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4972050" y="5530215"/>
            <a:ext cx="800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人工审查</a:t>
            </a:r>
            <a:endParaRPr sz="1050" b="1">
              <a:solidFill>
                <a:srgbClr val="355C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4972050" y="5746115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删除无效点，补充业务高频场景</a:t>
            </a:r>
            <a:endParaRPr sz="9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6915150" y="5530215"/>
            <a:ext cx="800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产出</a:t>
            </a:r>
            <a:endParaRPr sz="1050" b="1">
              <a:solidFill>
                <a:srgbClr val="355C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6915150" y="5746115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测试点矩阵初稿</a:t>
            </a:r>
            <a:endParaRPr sz="9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7F8F7"/>
            </a:gs>
            <a:gs pos="54000">
              <a:srgbClr val="EDF2F3"/>
            </a:gs>
            <a:gs pos="100000">
              <a:srgbClr val="F7F2EC"/>
            </a:gs>
          </a:gsLst>
          <a:lin ang="8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9753600" cy="7315200"/>
          </a:xfrm>
          <a:prstGeom prst="rect">
            <a:avLst/>
          </a:prstGeom>
          <a:gradFill>
            <a:gsLst>
              <a:gs pos="0">
                <a:srgbClr val="FFFFFF">
                  <a:alpha val="82000"/>
                </a:srgbClr>
              </a:gs>
              <a:gs pos="100000">
                <a:srgbClr val="FFFFFF">
                  <a:alpha val="44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4290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AI赋能软件测试 | 需求评审与测试点设计</a:t>
            </a:r>
            <a:endParaRPr sz="900" b="1">
              <a:solidFill>
                <a:srgbClr val="355C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66750"/>
            <a:ext cx="84963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4000"/>
              </a:lnSpc>
              <a:buNone/>
              <a:defRPr sz="2625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高价值评审不是多列测试点，而是提前暴露需求疑问和风险</a:t>
            </a:r>
            <a:endParaRPr sz="2625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466850"/>
            <a:ext cx="762000" cy="38100"/>
          </a:xfrm>
          <a:prstGeom prst="rect">
            <a:avLst/>
          </a:prstGeom>
          <a:solidFill>
            <a:srgbClr val="B98B65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82050" y="68389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9AA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9AA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825" b="0">
              <a:solidFill>
                <a:srgbClr val="9AA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1752600"/>
            <a:ext cx="800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6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AI的补漏价值在于帮助测试人员发现歧义、缺口、冲突和高风险场景</a:t>
            </a:r>
            <a:endParaRPr sz="165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23622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风险分层</a:t>
            </a:r>
            <a:endParaRPr sz="900" b="1">
              <a:solidFill>
                <a:srgbClr val="355C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23900" y="2686050"/>
            <a:ext cx="4095750" cy="325755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8DE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10" name="矩形 9"/>
          <p:cNvSpPr>
            <a:spLocks noGrp="1"/>
          </p:cNvSpPr>
          <p:nvPr/>
        </p:nvSpPr>
        <p:spPr>
          <a:xfrm>
            <a:off x="971550" y="285750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业务影响</a:t>
            </a:r>
            <a:endParaRPr sz="975" b="1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600450" y="5581650"/>
            <a:ext cx="742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发生概率</a:t>
            </a:r>
            <a:endParaRPr sz="975" b="1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352550" y="3238500"/>
            <a:ext cx="2724150" cy="9525"/>
          </a:xfrm>
          <a:prstGeom prst="rect">
            <a:avLst/>
          </a:prstGeom>
          <a:solidFill>
            <a:srgbClr val="D8DEDF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352550" y="4457700"/>
            <a:ext cx="2724150" cy="9525"/>
          </a:xfrm>
          <a:prstGeom prst="rect">
            <a:avLst/>
          </a:prstGeom>
          <a:solidFill>
            <a:srgbClr val="D8DED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266950" y="3028950"/>
            <a:ext cx="9525" cy="2419350"/>
          </a:xfrm>
          <a:prstGeom prst="rect">
            <a:avLst/>
          </a:prstGeom>
          <a:solidFill>
            <a:srgbClr val="D8DEDF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181350" y="3028950"/>
            <a:ext cx="9525" cy="2419350"/>
          </a:xfrm>
          <a:prstGeom prst="rect">
            <a:avLst/>
          </a:prstGeom>
          <a:solidFill>
            <a:srgbClr val="D8DEDF"/>
          </a:solidFill>
          <a:ln w="0">
            <a:noFill/>
            <a:prstDash val="solid"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3314700" y="3333750"/>
            <a:ext cx="1066800" cy="285750"/>
          </a:xfrm>
          <a:prstGeom prst="roundRect">
            <a:avLst>
              <a:gd name="adj" fmla="val 50000"/>
            </a:avLst>
          </a:prstGeom>
          <a:solidFill>
            <a:srgbClr val="A65F55">
              <a:alpha val="12000"/>
            </a:srgbClr>
          </a:solidFill>
          <a:ln w="9525">
            <a:solidFill>
              <a:srgbClr val="A65F55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371850" y="3333750"/>
            <a:ext cx="914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825" b="1">
                <a:solidFill>
                  <a:srgbClr val="A65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A65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满减口径未定义</a:t>
            </a:r>
            <a:endParaRPr sz="825" b="1">
              <a:solidFill>
                <a:srgbClr val="A65F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3219450" y="4019550"/>
            <a:ext cx="1066800" cy="285750"/>
          </a:xfrm>
          <a:prstGeom prst="roundRect">
            <a:avLst>
              <a:gd name="adj" fmla="val 50000"/>
            </a:avLst>
          </a:prstGeom>
          <a:solidFill>
            <a:srgbClr val="A65F55">
              <a:alpha val="12000"/>
            </a:srgbClr>
          </a:solidFill>
          <a:ln w="9525">
            <a:solidFill>
              <a:srgbClr val="A65F55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292475" y="4038600"/>
            <a:ext cx="914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825" b="1">
                <a:solidFill>
                  <a:srgbClr val="A65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A65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重复提交抵扣</a:t>
            </a:r>
            <a:endParaRPr sz="825" b="1">
              <a:solidFill>
                <a:srgbClr val="A65F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2305050" y="4171950"/>
            <a:ext cx="1066800" cy="285750"/>
          </a:xfrm>
          <a:prstGeom prst="roundRect">
            <a:avLst>
              <a:gd name="adj" fmla="val 50000"/>
            </a:avLst>
          </a:prstGeom>
          <a:solidFill>
            <a:srgbClr val="B98B65">
              <a:alpha val="12000"/>
            </a:srgbClr>
          </a:solidFill>
          <a:ln w="9525">
            <a:solidFill>
              <a:srgbClr val="B98B65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2284095" y="4191000"/>
            <a:ext cx="10890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825" b="1">
                <a:solidFill>
                  <a:srgbClr val="B98B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B98B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过期提示不一致</a:t>
            </a:r>
            <a:endParaRPr sz="825" b="1">
              <a:solidFill>
                <a:srgbClr val="B98B6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1600200" y="4819650"/>
            <a:ext cx="1066800" cy="285750"/>
          </a:xfrm>
          <a:prstGeom prst="roundRect">
            <a:avLst>
              <a:gd name="adj" fmla="val 50000"/>
            </a:avLst>
          </a:prstGeom>
          <a:solidFill>
            <a:srgbClr val="7A8F87">
              <a:alpha val="12000"/>
            </a:srgbClr>
          </a:solidFill>
          <a:ln w="9525">
            <a:solidFill>
              <a:srgbClr val="7A8F87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636395" y="4838700"/>
            <a:ext cx="9144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825" b="1">
                <a:solidFill>
                  <a:srgbClr val="7A8F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1">
                <a:solidFill>
                  <a:srgbClr val="7A8F8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列表展示规则</a:t>
            </a:r>
            <a:endParaRPr sz="825" b="1">
              <a:solidFill>
                <a:srgbClr val="7A8F8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295900" y="23622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需求疑问清单</a:t>
            </a:r>
            <a:endParaRPr sz="900" b="1">
              <a:solidFill>
                <a:srgbClr val="355C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5219700" y="2686050"/>
            <a:ext cx="3676650" cy="325755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8DE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26" name="椭圆 25"/>
          <p:cNvSpPr>
            <a:spLocks noGrp="1"/>
          </p:cNvSpPr>
          <p:nvPr/>
        </p:nvSpPr>
        <p:spPr>
          <a:xfrm>
            <a:off x="5505450" y="3095625"/>
            <a:ext cx="66675" cy="66675"/>
          </a:xfrm>
          <a:prstGeom prst="ellipse">
            <a:avLst/>
          </a:prstGeom>
          <a:solidFill>
            <a:srgbClr val="7A8F87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5676900" y="302895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满减门槛按原价、实付价还是商品价计算？</a:t>
            </a:r>
            <a:endParaRPr sz="11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5505450" y="3609975"/>
            <a:ext cx="66675" cy="66675"/>
          </a:xfrm>
          <a:prstGeom prst="ellipse">
            <a:avLst/>
          </a:prstGeom>
          <a:solidFill>
            <a:srgbClr val="7A8F87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5676900" y="354330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订单取消后，优惠券是否退回？</a:t>
            </a:r>
            <a:endParaRPr sz="11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5505450" y="4124325"/>
            <a:ext cx="66675" cy="66675"/>
          </a:xfrm>
          <a:prstGeom prst="ellipse">
            <a:avLst/>
          </a:prstGeom>
          <a:solidFill>
            <a:srgbClr val="7A8F87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5676900" y="405765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支付超时后，优惠券状态如何处理？</a:t>
            </a:r>
            <a:endParaRPr sz="11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5505450" y="4638675"/>
            <a:ext cx="66675" cy="66675"/>
          </a:xfrm>
          <a:prstGeom prst="ellipse">
            <a:avLst/>
          </a:prstGeom>
          <a:solidFill>
            <a:srgbClr val="7A8F87"/>
          </a:solidFill>
          <a:ln w="0">
            <a:noFill/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5676900" y="457200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不可叠加时页面如何提示？</a:t>
            </a:r>
            <a:endParaRPr sz="11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椭圆 33"/>
          <p:cNvSpPr>
            <a:spLocks noGrp="1"/>
          </p:cNvSpPr>
          <p:nvPr/>
        </p:nvSpPr>
        <p:spPr>
          <a:xfrm>
            <a:off x="5505450" y="5153025"/>
            <a:ext cx="66675" cy="66675"/>
          </a:xfrm>
          <a:prstGeom prst="ellipse">
            <a:avLst/>
          </a:prstGeom>
          <a:solidFill>
            <a:srgbClr val="B98B65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5676900" y="508635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B98B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B98B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哪些问题进入需求评审会议？</a:t>
            </a:r>
            <a:endParaRPr sz="1125" b="0">
              <a:solidFill>
                <a:srgbClr val="B98B6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320665" y="5619750"/>
            <a:ext cx="321437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A65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A65F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AI提示风险；测试人员确认优先级与责任边界</a:t>
            </a:r>
            <a:endParaRPr sz="1125" b="1">
              <a:solidFill>
                <a:srgbClr val="A65F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7F8F7"/>
            </a:gs>
            <a:gs pos="54000">
              <a:srgbClr val="EDF2F3"/>
            </a:gs>
            <a:gs pos="100000">
              <a:srgbClr val="F7F2EC"/>
            </a:gs>
          </a:gsLst>
          <a:lin ang="8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9753600" cy="7315200"/>
          </a:xfrm>
          <a:prstGeom prst="rect">
            <a:avLst/>
          </a:prstGeom>
          <a:gradFill>
            <a:gsLst>
              <a:gs pos="0">
                <a:srgbClr val="FFFFFF">
                  <a:alpha val="82000"/>
                </a:srgbClr>
              </a:gs>
              <a:gs pos="100000">
                <a:srgbClr val="FFFFFF">
                  <a:alpha val="44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4290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AI赋能软件测试 | 需求评审与测试点设计</a:t>
            </a:r>
            <a:endParaRPr sz="900" b="1">
              <a:solidFill>
                <a:srgbClr val="355C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66750"/>
            <a:ext cx="84963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4000"/>
              </a:lnSpc>
              <a:buNone/>
              <a:defRPr sz="2625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本章训练目标是把AI变成可复用的需求评审工作法</a:t>
            </a:r>
            <a:endParaRPr sz="2625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466850"/>
            <a:ext cx="762000" cy="38100"/>
          </a:xfrm>
          <a:prstGeom prst="rect">
            <a:avLst/>
          </a:prstGeom>
          <a:solidFill>
            <a:srgbClr val="B98B65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82050" y="68389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825" b="0">
                <a:solidFill>
                  <a:srgbClr val="9AA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9AA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825" b="0">
              <a:solidFill>
                <a:srgbClr val="9AA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1752600"/>
            <a:ext cx="819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学员最终带走的不是一次AI问答结果，而是一套可复用的需求评审与测试点拆解模板</a:t>
            </a:r>
            <a:endParaRPr sz="1575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23431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课堂案例</a:t>
            </a:r>
            <a:endParaRPr sz="900" b="1">
              <a:solidFill>
                <a:srgbClr val="355C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66750" y="2667000"/>
            <a:ext cx="2266950" cy="2590800"/>
          </a:xfrm>
          <a:prstGeom prst="roundRect">
            <a:avLst>
              <a:gd name="adj" fmla="val 5882"/>
            </a:avLst>
          </a:prstGeom>
          <a:solidFill>
            <a:srgbClr val="E8F0F2"/>
          </a:solidFill>
          <a:ln w="9525">
            <a:solidFill>
              <a:srgbClr val="D8DE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3009900"/>
            <a:ext cx="1981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875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优惠券功能需求</a:t>
            </a:r>
            <a:endParaRPr sz="1875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71550" y="3543300"/>
            <a:ext cx="1657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22000"/>
              </a:lnSpc>
              <a:buNone/>
              <a:def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领取、使用、过期、门槛、叠加、限制次数</a:t>
            </a:r>
            <a:endParaRPr sz="1200" b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4457700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125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规则清晰，边界明显，适合15分钟演示</a:t>
            </a:r>
            <a:endParaRPr sz="1125" b="1">
              <a:solidFill>
                <a:srgbClr val="355C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371850" y="23431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训练动作</a:t>
            </a:r>
            <a:endParaRPr sz="900" b="1">
              <a:solidFill>
                <a:srgbClr val="355C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3295650" y="2914650"/>
            <a:ext cx="9906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D8DE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15" name="矩形 14"/>
          <p:cNvSpPr>
            <a:spLocks noGrp="1"/>
          </p:cNvSpPr>
          <p:nvPr/>
        </p:nvSpPr>
        <p:spPr>
          <a:xfrm>
            <a:off x="3448050" y="3048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B98B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B98B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975" b="1">
              <a:solidFill>
                <a:srgbClr val="B98B6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350895" y="3275965"/>
            <a:ext cx="88709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摘要生成</a:t>
            </a:r>
            <a:endParaRPr sz="1350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右箭头 16"/>
          <p:cNvSpPr>
            <a:spLocks noGrp="1"/>
          </p:cNvSpPr>
          <p:nvPr/>
        </p:nvSpPr>
        <p:spPr>
          <a:xfrm>
            <a:off x="4343400" y="3276600"/>
            <a:ext cx="171450" cy="152400"/>
          </a:xfrm>
          <a:prstGeom prst="rightArrow">
            <a:avLst/>
          </a:prstGeom>
          <a:solidFill>
            <a:srgbClr val="C7D0D2"/>
          </a:solidFill>
          <a:ln w="0">
            <a:noFill/>
            <a:prstDash val="solid"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4533900" y="2914650"/>
            <a:ext cx="9906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D8DE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19" name="矩形 18"/>
          <p:cNvSpPr>
            <a:spLocks noGrp="1"/>
          </p:cNvSpPr>
          <p:nvPr/>
        </p:nvSpPr>
        <p:spPr>
          <a:xfrm>
            <a:off x="4686300" y="3048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B98B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B98B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75" b="1">
              <a:solidFill>
                <a:srgbClr val="B98B6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588510" y="3295650"/>
            <a:ext cx="898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规则提取</a:t>
            </a:r>
            <a:endParaRPr sz="1350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右箭头 20"/>
          <p:cNvSpPr>
            <a:spLocks noGrp="1"/>
          </p:cNvSpPr>
          <p:nvPr/>
        </p:nvSpPr>
        <p:spPr>
          <a:xfrm>
            <a:off x="5581650" y="3276600"/>
            <a:ext cx="171450" cy="152400"/>
          </a:xfrm>
          <a:prstGeom prst="rightArrow">
            <a:avLst/>
          </a:prstGeom>
          <a:solidFill>
            <a:srgbClr val="C7D0D2"/>
          </a:solidFill>
          <a:ln w="0">
            <a:noFill/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5772150" y="2914650"/>
            <a:ext cx="990600" cy="895350"/>
          </a:xfrm>
          <a:prstGeom prst="roundRect">
            <a:avLst>
              <a:gd name="adj" fmla="val 12766"/>
            </a:avLst>
          </a:prstGeom>
          <a:solidFill>
            <a:srgbClr val="F2ECE5"/>
          </a:solidFill>
          <a:ln w="9525">
            <a:solidFill>
              <a:srgbClr val="D8DE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23" name="矩形 22"/>
          <p:cNvSpPr>
            <a:spLocks noGrp="1"/>
          </p:cNvSpPr>
          <p:nvPr/>
        </p:nvSpPr>
        <p:spPr>
          <a:xfrm>
            <a:off x="5924550" y="3048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B98B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B98B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75" b="1">
              <a:solidFill>
                <a:srgbClr val="B98B6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820410" y="3301365"/>
            <a:ext cx="94869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测试点矩阵</a:t>
            </a:r>
            <a:endParaRPr sz="1350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右箭头 24"/>
          <p:cNvSpPr>
            <a:spLocks noGrp="1"/>
          </p:cNvSpPr>
          <p:nvPr/>
        </p:nvSpPr>
        <p:spPr>
          <a:xfrm>
            <a:off x="6819900" y="3276600"/>
            <a:ext cx="171450" cy="152400"/>
          </a:xfrm>
          <a:prstGeom prst="rightArrow">
            <a:avLst/>
          </a:prstGeom>
          <a:solidFill>
            <a:srgbClr val="C7D0D2"/>
          </a:solidFill>
          <a:ln w="0">
            <a:noFill/>
            <a:prstDash val="solid"/>
          </a:ln>
        </p:spPr>
      </p:sp>
      <p:sp>
        <p:nvSpPr>
          <p:cNvPr id="26" name="圆角矩形 25"/>
          <p:cNvSpPr>
            <a:spLocks noGrp="1"/>
          </p:cNvSpPr>
          <p:nvPr/>
        </p:nvSpPr>
        <p:spPr>
          <a:xfrm>
            <a:off x="7010400" y="2914650"/>
            <a:ext cx="9906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D8DE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27" name="矩形 26"/>
          <p:cNvSpPr>
            <a:spLocks noGrp="1"/>
          </p:cNvSpPr>
          <p:nvPr/>
        </p:nvSpPr>
        <p:spPr>
          <a:xfrm>
            <a:off x="7162800" y="3048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B98B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B98B6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975" b="1">
              <a:solidFill>
                <a:srgbClr val="B98B6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041515" y="3333750"/>
            <a:ext cx="901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风险排序</a:t>
            </a:r>
            <a:endParaRPr sz="1350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371850" y="42862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355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本章交付物</a:t>
            </a:r>
            <a:endParaRPr sz="900" b="1">
              <a:solidFill>
                <a:srgbClr val="355C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3295650" y="4629150"/>
            <a:ext cx="15240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8DE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31" name="矩形 30"/>
          <p:cNvSpPr>
            <a:spLocks noGrp="1"/>
          </p:cNvSpPr>
          <p:nvPr/>
        </p:nvSpPr>
        <p:spPr>
          <a:xfrm>
            <a:off x="3467100" y="4810125"/>
            <a:ext cx="1181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AI辅助需求评审清单</a:t>
            </a:r>
            <a:endParaRPr sz="1200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5086350" y="4629150"/>
            <a:ext cx="15240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8DE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33" name="矩形 32"/>
          <p:cNvSpPr>
            <a:spLocks noGrp="1"/>
          </p:cNvSpPr>
          <p:nvPr/>
        </p:nvSpPr>
        <p:spPr>
          <a:xfrm>
            <a:off x="5257800" y="4857750"/>
            <a:ext cx="1181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测试点拆解Prompt模板</a:t>
            </a:r>
            <a:endParaRPr sz="1200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6877050" y="4629150"/>
            <a:ext cx="15240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8DED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35" name="矩形 34"/>
          <p:cNvSpPr>
            <a:spLocks noGrp="1"/>
          </p:cNvSpPr>
          <p:nvPr/>
        </p:nvSpPr>
        <p:spPr>
          <a:xfrm>
            <a:off x="7048500" y="4857750"/>
            <a:ext cx="1181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功能测试用例生成模板</a:t>
            </a:r>
            <a:endParaRPr sz="1200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1104900" y="6076950"/>
            <a:ext cx="7543800" cy="457200"/>
          </a:xfrm>
          <a:prstGeom prst="roundRect">
            <a:avLst>
              <a:gd name="adj" fmla="val 25000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B98B65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37" name="矩形 36"/>
          <p:cNvSpPr>
            <a:spLocks noGrp="1"/>
          </p:cNvSpPr>
          <p:nvPr/>
        </p:nvSpPr>
        <p:spPr>
          <a:xfrm>
            <a:off x="1390650" y="6153150"/>
            <a:ext cx="6972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下一章：基于测试点继续生成和优化结构化测试用例</a:t>
            </a:r>
            <a:endParaRPr sz="1350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28600" dist="78545" dir="4557825">
              <a:srgbClr val="1F2933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28600" dist="78545" dir="4557825">
              <a:srgbClr val="1F2933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1588</Words>
  <Application>WPS 演示</Application>
  <PresentationFormat>Converted Presentation</PresentationFormat>
  <Paragraphs>312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ImAca</cp:lastModifiedBy>
  <cp:revision>2</cp:revision>
  <dcterms:created xsi:type="dcterms:W3CDTF">2026-07-05T07:18:58Z</dcterms:created>
  <dcterms:modified xsi:type="dcterms:W3CDTF">2026-07-05T07:21:44Z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B5ECA592FC3C4A78879074205F64F7B6_12</vt:lpwstr>
  </property>
  <property fmtid="{D5CDD505-2E9C-101B-9397-08002B2CF9AE}" pid="3" name="KSOProductBuildVer">
    <vt:lpwstr>2052-12.1.0.23542</vt:lpwstr>
  </property>
</Properties>
</file>